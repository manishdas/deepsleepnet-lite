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jtOzElWkELAiLpy+G08tLfDY5g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407080-B5C7-4E45-8DD1-DE1B3C8446BB}">
  <a:tblStyle styleId="{F0407080-B5C7-4E45-8DD1-DE1B3C8446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font" Target="fonts/Roboto-regular.fntdata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font" Target="fonts/Roboto-italic.fntdata"/><Relationship Id="rId21" Type="http://schemas.openxmlformats.org/officeDocument/2006/relationships/slide" Target="slides/slide14.xml"/><Relationship Id="rId43" Type="http://schemas.openxmlformats.org/officeDocument/2006/relationships/font" Target="fonts/Roboto-bold.fntdata"/><Relationship Id="rId24" Type="http://schemas.openxmlformats.org/officeDocument/2006/relationships/slide" Target="slides/slide17.xml"/><Relationship Id="rId46" Type="http://customschemas.google.com/relationships/presentationmetadata" Target="metadata"/><Relationship Id="rId23" Type="http://schemas.openxmlformats.org/officeDocument/2006/relationships/slide" Target="slides/slide16.xml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edb94eee3_0_3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edb94eee3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edb94ee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cedb94eee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edb94eee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cedb94eee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edb94ee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cedb94eee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edb94eee3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cedb94eee3_0_4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edb94eee3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cedb94eee3_0_4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edb94eee3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cedb94eee3_0_4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edb94eee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cedb94eee3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edb94eee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cedb94eee3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edb94eee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cedb94eee3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g3cedb94eee3_0_38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6" name="Google Shape;86;g3cedb94eee3_0_38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cedb94eee3_0_38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cedb94eee3_0_38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g3cedb94eee3_0_38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g3cedb94eee3_0_38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g3cedb94eee3_0_380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g3cedb94eee3_0_380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g3cedb94eee3_0_38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g3cedb94eee3_0_39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6" name="Google Shape;96;g3cedb94eee3_0_39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g3cedb94eee3_0_39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g3cedb94eee3_0_39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g3cedb94eee3_0_39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g3cedb94eee3_0_39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g3cedb94eee3_0_39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g3cedb94eee3_0_39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g3cedb94eee3_0_399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105" name="Google Shape;105;g3cedb94eee3_0_399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g3cedb94eee3_0_399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g3cedb94eee3_0_399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cedb94eee3_0_399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g3cedb94eee3_0_399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g3cedb94eee3_0_39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g3cedb94eee3_0_39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g3cedb94eee3_0_39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edb94eee3_0_40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" name="Google Shape;115;g3cedb94eee3_0_409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g3cedb94eee3_0_409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7" name="Google Shape;117;g3cedb94eee3_0_40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edb94eee3_0_4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" name="Google Shape;120;g3cedb94eee3_0_4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edb94eee3_0_4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g3cedb94eee3_0_41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" name="Google Shape;124;g3cedb94eee3_0_4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g3cedb94eee3_0_42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27" name="Google Shape;127;g3cedb94eee3_0_42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g3cedb94eee3_0_42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g3cedb94eee3_0_42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g3cedb94eee3_0_42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g3cedb94eee3_0_42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g3cedb94eee3_0_421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g3cedb94eee3_0_4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edb94eee3_0_43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g3cedb94eee3_0_43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g3cedb94eee3_0_43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8" name="Google Shape;138;g3cedb94eee3_0_43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9" name="Google Shape;139;g3cedb94eee3_0_4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g3cedb94eee3_0_43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edb94eee3_0_437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3" name="Google Shape;143;g3cedb94eee3_0_43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g3cedb94eee3_0_44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46" name="Google Shape;146;g3cedb94eee3_0_44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g3cedb94eee3_0_44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g3cedb94eee3_0_44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g3cedb94eee3_0_44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3cedb94eee3_0_44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g3cedb94eee3_0_440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g3cedb94eee3_0_440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g3cedb94eee3_0_44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edb94eee3_0_45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edb94eee3_0_37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g3cedb94eee3_0_37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g3cedb94eee3_0_37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99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"/>
          <p:cNvSpPr txBox="1"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SleepStageNet: Deep Learning for</a:t>
            </a:r>
            <a:b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Automated Sleep Stage Classification</a:t>
            </a:r>
            <a:endParaRPr/>
          </a:p>
        </p:txBody>
      </p:sp>
      <p:sp>
        <p:nvSpPr>
          <p:cNvPr id="161" name="Google Shape;161;p1"/>
          <p:cNvSpPr txBox="1"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CSEP 590A Deep Learning  |  Group Project</a:t>
            </a:r>
            <a:endParaRPr/>
          </a:p>
        </p:txBody>
      </p:sp>
      <p:sp>
        <p:nvSpPr>
          <p:cNvPr id="162" name="Google Shape;162;p1"/>
          <p:cNvSpPr txBox="1"/>
          <p:nvPr/>
        </p:nvSpPr>
        <p:spPr>
          <a:xfrm>
            <a:off x="731520" y="3200400"/>
            <a:ext cx="768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ABBFF"/>
                </a:solidFill>
                <a:latin typeface="Arial"/>
                <a:ea typeface="Arial"/>
                <a:cs typeface="Arial"/>
                <a:sym typeface="Arial"/>
              </a:rPr>
              <a:t> •  Manish Das  • Nithin Balachandran  </a:t>
            </a:r>
            <a:r>
              <a:rPr lang="en-US" sz="1300">
                <a:solidFill>
                  <a:srgbClr val="AABBFF"/>
                </a:solidFill>
              </a:rPr>
              <a:t>• Regith Lingesh</a:t>
            </a:r>
            <a:br>
              <a:rPr b="0" i="0" lang="en-US" sz="1300" u="none" cap="none" strike="noStrike">
                <a:solidFill>
                  <a:srgbClr val="AABB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AABBFF"/>
                </a:solidFill>
                <a:latin typeface="Arial"/>
                <a:ea typeface="Arial"/>
                <a:cs typeface="Arial"/>
                <a:sym typeface="Arial"/>
              </a:rPr>
              <a:t> •  </a:t>
            </a:r>
            <a:r>
              <a:rPr lang="en-US" sz="1300">
                <a:solidFill>
                  <a:srgbClr val="AABBFF"/>
                </a:solidFill>
              </a:rPr>
              <a:t>Shrinivas Acharya  • </a:t>
            </a:r>
            <a:r>
              <a:rPr b="0" i="0" lang="en-US" sz="1300" u="none" cap="none" strike="noStrike">
                <a:solidFill>
                  <a:srgbClr val="AABBFF"/>
                </a:solidFill>
                <a:latin typeface="Arial"/>
                <a:ea typeface="Arial"/>
                <a:cs typeface="Arial"/>
                <a:sym typeface="Arial"/>
              </a:rPr>
              <a:t>Thangakumar Dhanasekaran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Problem &amp; Motivation</a:t>
            </a:r>
            <a:endParaRPr/>
          </a:p>
        </p:txBody>
      </p:sp>
      <p:sp>
        <p:nvSpPr>
          <p:cNvPr id="169" name="Google Shape;169;p2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502920" y="896112"/>
            <a:ext cx="8138100" cy="2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Sleep disorders affect millions worldwide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Diagnosis requires overnight polysomnography (PSG) — expensive, manual, expert-dependent</a:t>
            </a:r>
            <a:endParaRPr sz="18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A trained technician takes 2–4 hours to score one night (800–1000 epochs)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Goal: Automate 5-class sleep stage classification from raw EEG signals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Clinical impact: Reduce cost, enable scalable sleep monitoring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Sleep Stages</a:t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502920" y="896112"/>
            <a:ext cx="8138100" cy="27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5 classes per AASM guidelines: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Wake (W) — alert / drowsy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N1 — light sleep, transition stage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N2 — intermediate sleep, sleep spindles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N3 — deep / slow-wave sleep, delta waves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REM — rapid eye movement, dreaming</a:t>
            </a:r>
            <a:endParaRPr sz="19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Each 30-second epoch is classified independently</a:t>
            </a:r>
            <a:endParaRPr sz="19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Visual: Example EEG waveforms for each stage (see figure slides)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502920" y="896112"/>
            <a:ext cx="8138100" cy="3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Sleep-EDF v1 from PhysioNet (public benchmark)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39 whole-night PSG recordings from 20 healthy subjects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EEG channel: Fpz-Cz at 100 Hz → 3000 samples per 30 s epoch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42,230 total epochs across all recordings</a:t>
            </a:r>
            <a:endParaRPr sz="19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Class distribution: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W: 8,207 (19.4%)   |   N1: 2,804 (6.6%) ← severely underrepresented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N2: 17,799 (42.1%) ← dominant class   |   N3: 5,703 (13.5%)   |   REM: 7,717 (18.3%)</a:t>
            </a:r>
            <a:endParaRPr sz="19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Challenge: Severe class imbalance, subject variability, ambiguous transitions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Evaluation Protocol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02920" y="896112"/>
            <a:ext cx="81381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20-fold Leave-One-Subject-Out Cross-Validation (LOSO-CV)</a:t>
            </a:r>
            <a:endParaRPr sz="18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Each fold: train on 19 subjects, test on 1 held-out subject</a:t>
            </a:r>
            <a:endParaRPr sz="18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Ensures model generalizes to unseen subjects (no data leakage)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Metrics:</a:t>
            </a:r>
            <a:endParaRPr sz="18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Macro F1 (primary) — treats all 5 classes equally</a:t>
            </a:r>
            <a:endParaRPr sz="18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Cohen's Kappa (clinical standard) — corrects for chance agreement</a:t>
            </a:r>
            <a:endParaRPr sz="18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Overall Accuracy, Per-class F1, Confusion Matrix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Why Macro F1? Accuracy is misleading — a model predicting all N2 gets 42%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Approach Overview</a:t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502920" y="896112"/>
            <a:ext cx="8138100" cy="30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Start from a strong CNN baseline, then improve systematically: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Step 1  →  Baseline: CNN on Raw EEG (DeepSleepNet-Lite)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End-to-end deep learning baseline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Step 2  →  Improvement 1: Class Imbalance — Focal Loss / Weighted Loss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Improve N1 detection on severely underrepresented class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Step 3  →  Improvement 2: Temporal Context — BiLSTM / Attention over epochs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Model sleep stage transitions across consecutive epochs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Step 4  →  Analysis: Interpretability — Grad-CAM / Saliency maps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Understand what the model learns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All experiments compared via the same 20-fold LOSO-CV protocol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Baseline Architecture — DeepSleepNet-Lite</a:t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502920" y="896112"/>
            <a:ext cx="8138100" cy="26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Input: 90-second window (3 × 30 s epochs) = 9,000 samples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Dual parallel CNN paths:</a:t>
            </a:r>
            <a:endParaRPr sz="17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Path 1: Small filters (~50 samples) — fine-grained, high-frequency features</a:t>
            </a:r>
            <a:endParaRPr sz="17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Path 2: Large filters (~400 samples) — coarse, low-frequency features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Concatenated features → Fully Connected → Softmax (5 classes)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Training: Adam optimizer, lr = 1e-4, 100 epochs, batch size 100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MC-Dropout inference (N=30 samples) for uncertainty quantification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Oversampling applied to handle class imbalance during training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edb94eee3_0_370"/>
          <p:cNvSpPr txBox="1"/>
          <p:nvPr>
            <p:ph type="ctrTitle"/>
          </p:nvPr>
        </p:nvSpPr>
        <p:spPr>
          <a:xfrm>
            <a:off x="379775" y="349326"/>
            <a:ext cx="7977300" cy="56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Architecture of DeepSleepNet-Lite</a:t>
            </a:r>
            <a:endParaRPr b="1"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cedb94eee3_0_370"/>
          <p:cNvSpPr txBox="1"/>
          <p:nvPr>
            <p:ph idx="1" type="subTitle"/>
          </p:nvPr>
        </p:nvSpPr>
        <p:spPr>
          <a:xfrm>
            <a:off x="545875" y="1170300"/>
            <a:ext cx="7811100" cy="37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0F6FC"/>
              </a:solidFill>
              <a:highlight>
                <a:srgbClr val="0D1117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0F6FC"/>
              </a:solidFill>
              <a:highlight>
                <a:srgbClr val="0D1117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g3cedb94eee3_0_370" title="deepsleepnet-l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5850" y="1052425"/>
            <a:ext cx="4025726" cy="409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Baseline Results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502920" y="896112"/>
            <a:ext cx="81381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Overall performance:</a:t>
            </a:r>
            <a:endParaRPr sz="17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Accuracy: 80.9%   |   Macro F1: 0.753   |   Cohen's Kappa: 0.740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Per-class F1:</a:t>
            </a:r>
            <a:endParaRPr sz="17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W: 0.802   |   N1: 0.441 ← bottleneck   |   N2: 0.865</a:t>
            </a:r>
            <a:endParaRPr sz="17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N3: 0.859   |   REM: 0.795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Key finding: N1 is the hardest stage (F1 = 0.441)</a:t>
            </a:r>
            <a:endParaRPr sz="17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Confused with Wake (similar low-amplitude EEG)</a:t>
            </a:r>
            <a:endParaRPr sz="17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Confused with REM (similar frequency content)</a:t>
            </a:r>
            <a:endParaRPr sz="17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Only 6.6% of data — model biased toward majority classes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Cohen's Kappa 0.74 = 'substantial agreement' (human expert range: 0.75–0.85)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Improvement — Focal Loss for Class Imbalance</a:t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502920" y="896112"/>
            <a:ext cx="8138160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Problem: Standard cross-entropy treats all samples equally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Model focuses on easy / frequent classes (N2 dominates)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Focal Loss (Lin et al., 2017): down-weights easy examples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FL(p) = -α(1-p)^γ · log(p)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γ controls focus on hard examples  (γ = 0 → standard CE)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γ = 2.0 used in Conformer model experiments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Implementation: combined with Mixup augmentation and class weighting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Expected: N1 F1 improvement, possibly slight cost to N2/N3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Addresses Research Q4: mitigating class imbalance for minority stages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Sample EEG Epoch — N2 Sleep Stage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ample_eeg_epoch.png" id="240" name="Google Shape;2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100 Hz, 30 s epoch (3000 samples), Fpz-Cz channel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990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/>
        </p:nvSpPr>
        <p:spPr>
          <a:xfrm>
            <a:off x="731520" y="1828800"/>
            <a:ext cx="768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</a:rPr>
              <a:t>Baseline</a:t>
            </a:r>
            <a:endParaRPr b="1" sz="4000">
              <a:solidFill>
                <a:srgbClr val="FFFFFF"/>
              </a:solidFill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731520" y="2834640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Sleep Stage Distribution in Dataset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ss_distribution.png"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Sleep-EDF v1: 42,230 total epochs — severe imbalance drives need for focal loss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edb94eee3_0_5"/>
          <p:cNvSpPr txBox="1"/>
          <p:nvPr/>
        </p:nvSpPr>
        <p:spPr>
          <a:xfrm>
            <a:off x="365760" y="109728"/>
            <a:ext cx="84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A3990"/>
                </a:solidFill>
              </a:rPr>
              <a:t>Confusion Matrix</a:t>
            </a:r>
            <a:endParaRPr/>
          </a:p>
        </p:txBody>
      </p:sp>
      <p:sp>
        <p:nvSpPr>
          <p:cNvPr id="261" name="Google Shape;261;g3cedb94eee3_0_5"/>
          <p:cNvSpPr/>
          <p:nvPr/>
        </p:nvSpPr>
        <p:spPr>
          <a:xfrm>
            <a:off x="365760" y="640080"/>
            <a:ext cx="84126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g3cedb94eee3_0_5" title="confusion_matric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25" y="1408830"/>
            <a:ext cx="8811744" cy="338471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cedb94eee3_0_5"/>
          <p:cNvSpPr txBox="1"/>
          <p:nvPr/>
        </p:nvSpPr>
        <p:spPr>
          <a:xfrm>
            <a:off x="506475" y="759275"/>
            <a:ext cx="699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N3 and N2 Classified Well; N1 Confusion Persists</a:t>
            </a:r>
            <a:br>
              <a:rPr lang="en-US"/>
            </a:br>
            <a:r>
              <a:rPr lang="en-US"/>
              <a:t>Model Excels at N2/N3, Struggles Most with N1 (48% Recall)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edb94eee3_0_13"/>
          <p:cNvSpPr txBox="1"/>
          <p:nvPr/>
        </p:nvSpPr>
        <p:spPr>
          <a:xfrm>
            <a:off x="365750" y="109727"/>
            <a:ext cx="8139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A3990"/>
                </a:solidFill>
              </a:rPr>
              <a:t>Baseline Results: Per-Class F1 and Training Curves</a:t>
            </a:r>
            <a:endParaRPr b="1" sz="2000">
              <a:solidFill>
                <a:srgbClr val="2A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A3990"/>
              </a:solidFill>
            </a:endParaRPr>
          </a:p>
        </p:txBody>
      </p:sp>
      <p:sp>
        <p:nvSpPr>
          <p:cNvPr id="269" name="Google Shape;269;g3cedb94eee3_0_13"/>
          <p:cNvSpPr/>
          <p:nvPr/>
        </p:nvSpPr>
        <p:spPr>
          <a:xfrm>
            <a:off x="365760" y="640080"/>
            <a:ext cx="84126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g3cedb94eee3_0_13" title="training_curves_and_f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00105"/>
            <a:ext cx="8839202" cy="272574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cedb94eee3_0_13"/>
          <p:cNvSpPr txBox="1"/>
          <p:nvPr/>
        </p:nvSpPr>
        <p:spPr>
          <a:xfrm>
            <a:off x="646200" y="752650"/>
            <a:ext cx="75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en-US" sz="1600">
                <a:solidFill>
                  <a:schemeClr val="dk1"/>
                </a:solidFill>
              </a:rPr>
              <a:t>Baseline Model Achieves 0.753 Macro F1 Across 5 Sleep Stages</a:t>
            </a:r>
            <a:endParaRPr i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990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edb94eee3_0_0"/>
          <p:cNvSpPr txBox="1"/>
          <p:nvPr/>
        </p:nvSpPr>
        <p:spPr>
          <a:xfrm>
            <a:off x="731520" y="1828800"/>
            <a:ext cx="768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</a:rPr>
              <a:t>Temporal Model</a:t>
            </a:r>
            <a:endParaRPr/>
          </a:p>
        </p:txBody>
      </p:sp>
      <p:sp>
        <p:nvSpPr>
          <p:cNvPr id="277" name="Google Shape;277;g3cedb94eee3_0_0"/>
          <p:cNvSpPr txBox="1"/>
          <p:nvPr/>
        </p:nvSpPr>
        <p:spPr>
          <a:xfrm>
            <a:off x="731520" y="2834640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502920" y="164592"/>
            <a:ext cx="8138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A3990"/>
                </a:solidFill>
              </a:rPr>
              <a:t>Why Temporal Modeling?</a:t>
            </a:r>
            <a:endParaRPr b="1" sz="17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A3990"/>
              </a:solidFill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502925" y="896101"/>
            <a:ext cx="8138100" cy="3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Sleep stages follow biological transition rules — context from neighboring epochs matters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Standard CNNs treat concatenated epochs as a flat spatial signal, losing temporal order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 shared CNN extracts a feature vector per epoch; BiLSTM then models the sequence explicitly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Enables reasoning like: </a:t>
            </a:r>
            <a:r>
              <a:rPr i="1" lang="en-US" sz="1800">
                <a:solidFill>
                  <a:schemeClr val="dk1"/>
                </a:solidFill>
              </a:rPr>
              <a:t>"features suggest N1, but surrounding context indicates REM onset"</a:t>
            </a:r>
            <a:endParaRPr i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Captures </a:t>
            </a:r>
            <a:r>
              <a:rPr b="1" lang="en-US" sz="1800">
                <a:solidFill>
                  <a:schemeClr val="dk1"/>
                </a:solidFill>
              </a:rPr>
              <a:t>what</a:t>
            </a:r>
            <a:r>
              <a:rPr lang="en-US" sz="1800">
                <a:solidFill>
                  <a:schemeClr val="dk1"/>
                </a:solidFill>
              </a:rPr>
              <a:t> is in each epoch </a:t>
            </a:r>
            <a:r>
              <a:rPr b="1" lang="en-US" sz="1800">
                <a:solidFill>
                  <a:schemeClr val="dk1"/>
                </a:solidFill>
              </a:rPr>
              <a:t>and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1" lang="en-US" sz="1800">
                <a:solidFill>
                  <a:schemeClr val="dk1"/>
                </a:solidFill>
              </a:rPr>
              <a:t>when</a:t>
            </a:r>
            <a:r>
              <a:rPr lang="en-US" sz="1800">
                <a:solidFill>
                  <a:schemeClr val="dk1"/>
                </a:solidFill>
              </a:rPr>
              <a:t> it occurs relative to others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5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edb94eee3_0_452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cedb94eee3_0_452"/>
          <p:cNvSpPr txBox="1"/>
          <p:nvPr/>
        </p:nvSpPr>
        <p:spPr>
          <a:xfrm>
            <a:off x="502920" y="164592"/>
            <a:ext cx="81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Improvement — Temporal Context Modeling</a:t>
            </a:r>
            <a:endParaRPr/>
          </a:p>
        </p:txBody>
      </p:sp>
      <p:sp>
        <p:nvSpPr>
          <p:cNvPr id="292" name="Google Shape;292;g3cedb94eee3_0_452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cedb94eee3_0_452"/>
          <p:cNvSpPr txBox="1"/>
          <p:nvPr/>
        </p:nvSpPr>
        <p:spPr>
          <a:xfrm>
            <a:off x="502920" y="896112"/>
            <a:ext cx="81381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Problem: CNN classifies each epoch mostly independently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Ignores natural temporal progression of sleep stages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Solution: BiLSTM over a sequence of CNN epoch features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Per-epoch CNN → 64D feature vector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BiLSTM (2 × 128 hidden, bidirectional) over L=5 epoch window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Predict center epoch using full context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Sleep naturally follows patterns: W → N1 → N2 → N3 → N2 → REM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Temporal model can learn that N1 after N3 is unlikely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3-stage training: (1) pretrain CNN, (2) train LSTM frozen CNN, (3) full fine-tune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Result: 83.14% accuracy vs 80.92% baseline (CNN+BiLSTM, 20-fold LOSO-CV)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Sleep Stage Distribution (Temporal Model)</a:t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ss_distribution.png" id="300" name="Google Shape;3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1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Strong class imbalance: N2 dominates (42%), N1 severely underrepresented (6.6%)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CNN+BiLSTM Classification Results (20-Fold LOSO-CV)</a:t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fusion_matrices.png" id="308" name="Google Shape;3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Normalized confusion matrices — N1 remains the most-confused class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Training Dynamics and Per-Class Performance</a:t>
            </a: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ining_curves_and_f1.png" id="316" name="Google Shape;3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Mean ± std over 20 folds — N1 F1 is consistently the lowest per-class score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990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"/>
          <p:cNvSpPr txBox="1"/>
          <p:nvPr/>
        </p:nvSpPr>
        <p:spPr>
          <a:xfrm>
            <a:off x="731520" y="1828800"/>
            <a:ext cx="7680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</a:rPr>
              <a:t>Enhanced</a:t>
            </a:r>
            <a:r>
              <a:rPr b="1" lang="en-US" sz="3100">
                <a:solidFill>
                  <a:srgbClr val="FFFFFF"/>
                </a:solidFill>
              </a:rPr>
              <a:t> Model</a:t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edb94eee3_0_470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cedb94eee3_0_470"/>
          <p:cNvSpPr txBox="1"/>
          <p:nvPr/>
        </p:nvSpPr>
        <p:spPr>
          <a:xfrm>
            <a:off x="502925" y="164599"/>
            <a:ext cx="7731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A3990"/>
                </a:solidFill>
              </a:rPr>
              <a:t>Improvements Over Baseline</a:t>
            </a:r>
            <a:endParaRPr b="1" sz="18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A3990"/>
              </a:solidFill>
            </a:endParaRPr>
          </a:p>
        </p:txBody>
      </p:sp>
      <p:sp>
        <p:nvSpPr>
          <p:cNvPr id="329" name="Google Shape;329;g3cedb94eee3_0_470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cedb94eee3_0_470"/>
          <p:cNvSpPr txBox="1"/>
          <p:nvPr/>
        </p:nvSpPr>
        <p:spPr>
          <a:xfrm>
            <a:off x="502925" y="896101"/>
            <a:ext cx="81381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Architecture</a:t>
            </a:r>
            <a:endParaRPr b="1" sz="2200"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Multi-scale CNN backbone: Dual-path with small filters (50-sample, ~0.5s) capturing high-frequency spindles and large filters (400-sample, ~4s) capturing slow waves — inspired by DeepSleepNet-Lite's TensorFlow architecture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Conformer blocks (conformer model): Macaron-style FFN → MHSA → Depthwise Conv → FFN, effective for both local transitions and global patterns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2-layer BiLSTM (cnn_bilstm model): Deeper recurrence captures longer temporal dependencies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Learnable positional encoding: Better than fixed sinusoidal for short sequences</a:t>
            </a:r>
            <a:endParaRPr sz="19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edb94eee3_0_483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cedb94eee3_0_483"/>
          <p:cNvSpPr txBox="1"/>
          <p:nvPr/>
        </p:nvSpPr>
        <p:spPr>
          <a:xfrm>
            <a:off x="502925" y="164599"/>
            <a:ext cx="7731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A3990"/>
                </a:solidFill>
              </a:rPr>
              <a:t>Improvements Over Baseline</a:t>
            </a:r>
            <a:endParaRPr b="1" sz="18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A3990"/>
              </a:solidFill>
            </a:endParaRPr>
          </a:p>
        </p:txBody>
      </p:sp>
      <p:sp>
        <p:nvSpPr>
          <p:cNvPr id="337" name="Google Shape;337;g3cedb94eee3_0_483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cedb94eee3_0_483"/>
          <p:cNvSpPr txBox="1"/>
          <p:nvPr/>
        </p:nvSpPr>
        <p:spPr>
          <a:xfrm>
            <a:off x="502925" y="896101"/>
            <a:ext cx="8138100" cy="4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Training</a:t>
            </a:r>
            <a:endParaRPr b="1" sz="165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Focal Loss (γ=1.5, conformer only): Down-weights easy examples, focuses on hard-to-classify N1 epochs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Label smoothing (0.05): Reduces overconfident predictions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Mixup augmentation (α=0.1, cnn_bilstm &amp; conformer): Interpolates training pairs for regularization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EEG data augmentation: Time shift (±50 samples), amplitude scaling (±10%), Gaussian noise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Cosine annealing with warmup: 3-epoch linear warmup, then cosine decay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3-stage training (sequence models): Pretrain CNN → Train temporal (CNN frozen) → Fine-tune end-to-end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Balanced class sampling option via WeightedRandomSampler (--balanced_sampling flag)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Gradient accumulation supported in training loop</a:t>
            </a:r>
            <a:endParaRPr sz="12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Sequence Length</a:t>
            </a:r>
            <a:endParaRPr b="1" sz="175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Baseline used L=5 (±2 epochs of context)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Enhanced models use L=11 (±5 epochs) by default for broader temporal context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Longer sequences particularly help with N1/REM disambiguation</a:t>
            </a:r>
            <a:endParaRPr sz="12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Conformer Model Classification Performance</a:t>
            </a:r>
            <a:endParaRPr/>
          </a:p>
        </p:txBody>
      </p:sp>
      <p:sp>
        <p:nvSpPr>
          <p:cNvPr id="344" name="Google Shape;344;p25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former_confusion.png" id="345" name="Google Shape;3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Fold 0 confusion matrix — Conformer reduces N1 confusion vs. baseline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20-Fold CV Metric Distributions</a:t>
            </a:r>
            <a:endParaRPr/>
          </a:p>
        </p:txBody>
      </p:sp>
      <p:sp>
        <p:nvSpPr>
          <p:cNvPr id="352" name="Google Shape;352;p26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20_boxplots.png" id="353" name="Google Shape;3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6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Box plots for Accuracy, Macro F1, and Kappa — CNN+BiLSTM vs. Conformer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Aggregate Test Set Performance (20-Fold CV)</a:t>
            </a:r>
            <a:endParaRPr/>
          </a:p>
        </p:txBody>
      </p:sp>
      <p:sp>
        <p:nvSpPr>
          <p:cNvPr id="360" name="Google Shape;360;p27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20_confusion_matrices.png" id="361" name="Google Shape;3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7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Combined predictions across all 20 folds for both models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Per-Class F1 Scores: CNN+BiLSTM vs Conformer</a:t>
            </a:r>
            <a:endParaRPr/>
          </a:p>
        </p:txBody>
      </p:sp>
      <p:sp>
        <p:nvSpPr>
          <p:cNvPr id="368" name="Google Shape;368;p28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20_per_class_f1.png" id="369" name="Google Shape;36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8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Conformer improves N1 and REM detection relative to BiLSTM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9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Per-Fold Performance Variation (20-Fold LOSO-CV)</a:t>
            </a:r>
            <a:endParaRPr/>
          </a:p>
        </p:txBody>
      </p:sp>
      <p:sp>
        <p:nvSpPr>
          <p:cNvPr id="376" name="Google Shape;376;p29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20_per_fold_metrics.png" id="377" name="Google Shape;37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9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Accuracy per subject — subject variability is a key challenge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Model Performance Profile Comparison</a:t>
            </a:r>
            <a:endParaRPr/>
          </a:p>
        </p:txBody>
      </p:sp>
      <p:sp>
        <p:nvSpPr>
          <p:cNvPr id="384" name="Google Shape;384;p30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20_radar_profile.png" id="385" name="Google Shape;3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0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Radar chart: Conformer achieves a more balanced profile across all 5 stages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1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Model Improvement Over Baseline (Fold 0)</a:t>
            </a:r>
            <a:endParaRPr/>
          </a:p>
        </p:txBody>
      </p:sp>
      <p:sp>
        <p:nvSpPr>
          <p:cNvPr id="392" name="Google Shape;392;p31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l_comparison_f1.png" id="393" name="Google Shape;39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1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Per-class F1 bar chart: Baseline vs. CNN+BiLSTM vs. Conformer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cedb94eee3_0_30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cedb94eee3_0_30"/>
          <p:cNvSpPr txBox="1"/>
          <p:nvPr/>
        </p:nvSpPr>
        <p:spPr>
          <a:xfrm>
            <a:off x="502920" y="164592"/>
            <a:ext cx="81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Results Comparison</a:t>
            </a:r>
            <a:endParaRPr/>
          </a:p>
        </p:txBody>
      </p:sp>
      <p:sp>
        <p:nvSpPr>
          <p:cNvPr id="401" name="Google Shape;401;g3cedb94eee3_0_30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2" name="Google Shape;402;g3cedb94eee3_0_30"/>
          <p:cNvGraphicFramePr/>
          <p:nvPr/>
        </p:nvGraphicFramePr>
        <p:xfrm>
          <a:off x="365760" y="868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{F0407080-B5C7-4E45-8DD1-DE1B3C8446BB}</a:tableStyleId>
              </a:tblPr>
              <a:tblGrid>
                <a:gridCol w="2468875"/>
                <a:gridCol w="1463050"/>
                <a:gridCol w="1463050"/>
                <a:gridCol w="1463050"/>
                <a:gridCol w="15544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 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Cohen's 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N1 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 (DeepSleepNet-Lite)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80.9%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Temporal  (CNN + BiLSTM, L=5)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83.1% ± 7.2%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0.778 ± 0.078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0.768 ± 0.094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0.477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A39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Enhanced  (CNN + BiLSTM, L=11)  ★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84.1% ± 6.7%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0.791 ± 0.069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0.783 ± 0.088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Enhanced  (Conformer, L=11)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82.9% ± 7.6%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0.780 ± 0.076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0.769 ± 0.098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403" name="Google Shape;403;g3cedb94eee3_0_30"/>
          <p:cNvSpPr txBox="1"/>
          <p:nvPr/>
        </p:nvSpPr>
        <p:spPr>
          <a:xfrm>
            <a:off x="365760" y="2980944"/>
            <a:ext cx="841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Per-Class F1  (Temporal CNN+BiLSTM vs Baseline)</a:t>
            </a:r>
            <a:endParaRPr/>
          </a:p>
        </p:txBody>
      </p:sp>
      <p:graphicFrame>
        <p:nvGraphicFramePr>
          <p:cNvPr id="404" name="Google Shape;404;g3cedb94eee3_0_30"/>
          <p:cNvGraphicFramePr/>
          <p:nvPr/>
        </p:nvGraphicFramePr>
        <p:xfrm>
          <a:off x="365760" y="33101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{F0407080-B5C7-4E45-8DD1-DE1B3C8446BB}</a:tableStyleId>
              </a:tblPr>
              <a:tblGrid>
                <a:gridCol w="1920250"/>
                <a:gridCol w="1298450"/>
                <a:gridCol w="1298450"/>
                <a:gridCol w="1298450"/>
                <a:gridCol w="1298450"/>
                <a:gridCol w="12984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Stage →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Wake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N1  (bottleneck)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Temporal ↑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0.874 (+0.072)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0.477 (+0.036)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0.859 (−0.006)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0.868 (+0.009)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0.814 (+0.019)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405" name="Google Shape;405;g3cedb94eee3_0_30"/>
          <p:cNvSpPr txBox="1"/>
          <p:nvPr/>
        </p:nvSpPr>
        <p:spPr>
          <a:xfrm>
            <a:off x="365760" y="4370832"/>
            <a:ext cx="8412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★ Best overall model  |  — Per-class data not in enhanced CSV (see cv20_per_class_f1.png)  |  All values: mean across 20 folds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edb94eee3_0_115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cedb94eee3_0_115"/>
          <p:cNvSpPr txBox="1"/>
          <p:nvPr/>
        </p:nvSpPr>
        <p:spPr>
          <a:xfrm>
            <a:off x="502920" y="164592"/>
            <a:ext cx="813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sz="2800"/>
          </a:p>
        </p:txBody>
      </p:sp>
      <p:sp>
        <p:nvSpPr>
          <p:cNvPr id="412" name="Google Shape;412;g3cedb94eee3_0_115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cedb94eee3_0_115"/>
          <p:cNvSpPr txBox="1"/>
          <p:nvPr/>
        </p:nvSpPr>
        <p:spPr>
          <a:xfrm>
            <a:off x="502920" y="896112"/>
            <a:ext cx="81381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1.  All three approaches improve on the same 20-fold LOSO-CV benchmark (Sleep-EDF v1, 39 recordings)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    –  Baseline 80.9%  →  Temporal 83.1%  →  Enhanced CNN+BiLSTM 84.1%  (best)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2.  Temporal context is the single biggest lever — adding BiLSTM over L=5 epochs gained +2.2% accuracy and +3.6% N1 F1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Sleep stage transitions (W→N1→N2→N3→REM) give the sequence model a structural advantage over epoch-wise CNN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3.  Enhanced training (focal loss γ=2, mixup, cosine warmup, longer context L=11) adds another +1.0% accuracy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Multi-scale CNN backbone captures both fine (spindles) and coarse (delta) EEG features simultaneously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4.  Conformer (82.9%) slightly underperforms Enhanced CNN+BiLSTM (84.1%) on this dataset size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Attention mechanisms may need more data to outshine recurrent inductive biases for temporal EEG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5.  N1 remains the persistent bottleneck across all models (0.441 → 0.477 in Temporal; enhanced similar)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N1 is intrinsically ambiguous — only 6.6% of data, overlaps spectrally with both Wake and REM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6.  High fold-to-fold variance (std ≈ 0.07–0.09) confirms subject-level variability dominates model choice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Larger datasets (SHHS, MASS) or subject-adaptive fine-tuning needed for robust clinical deployment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•  7.  All enhanced models approach human inter-scorer Kappa range (0.75–0.85); Enhanced CNN+BiLSTM κ = 0.783</a:t>
            </a:r>
            <a:endParaRPr sz="1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edb94eee3_0_197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cedb94eee3_0_197"/>
          <p:cNvSpPr txBox="1"/>
          <p:nvPr/>
        </p:nvSpPr>
        <p:spPr>
          <a:xfrm>
            <a:off x="502920" y="164592"/>
            <a:ext cx="81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/>
          </a:p>
        </p:txBody>
      </p:sp>
      <p:sp>
        <p:nvSpPr>
          <p:cNvPr id="420" name="Google Shape;420;g3cedb94eee3_0_197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1" name="Google Shape;421;g3cedb94eee3_0_197"/>
          <p:cNvGraphicFramePr/>
          <p:nvPr/>
        </p:nvGraphicFramePr>
        <p:xfrm>
          <a:off x="411480" y="8412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{F0407080-B5C7-4E45-8DD1-DE1B3C8446BB}</a:tableStyleId>
              </a:tblPr>
              <a:tblGrid>
                <a:gridCol w="2286000"/>
                <a:gridCol w="1508750"/>
                <a:gridCol w="1508750"/>
                <a:gridCol w="1508750"/>
                <a:gridCol w="1508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 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Cohen's 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N1 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→ Temporal → Enh. CNN+BiLSTM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80.9% → 83.1% → 84.1%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0.753 → 0.778 → 0.791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0.740 → 0.768 → 0.783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0.441 → 0.477 → ?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22" name="Google Shape;422;g3cedb94eee3_0_197"/>
          <p:cNvSpPr/>
          <p:nvPr/>
        </p:nvSpPr>
        <p:spPr>
          <a:xfrm>
            <a:off x="411480" y="1554480"/>
            <a:ext cx="3977700" cy="3201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cedb94eee3_0_197"/>
          <p:cNvSpPr txBox="1"/>
          <p:nvPr/>
        </p:nvSpPr>
        <p:spPr>
          <a:xfrm>
            <a:off x="411480" y="1554480"/>
            <a:ext cx="397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  Limitations  (evidence from results)</a:t>
            </a:r>
            <a:endParaRPr/>
          </a:p>
        </p:txBody>
      </p:sp>
      <p:sp>
        <p:nvSpPr>
          <p:cNvPr id="424" name="Google Shape;424;g3cedb94eee3_0_197"/>
          <p:cNvSpPr/>
          <p:nvPr/>
        </p:nvSpPr>
        <p:spPr>
          <a:xfrm>
            <a:off x="4526280" y="1554480"/>
            <a:ext cx="4206300" cy="320100"/>
          </a:xfrm>
          <a:prstGeom prst="rect">
            <a:avLst/>
          </a:prstGeom>
          <a:solidFill>
            <a:srgbClr val="1B8A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cedb94eee3_0_197"/>
          <p:cNvSpPr txBox="1"/>
          <p:nvPr/>
        </p:nvSpPr>
        <p:spPr>
          <a:xfrm>
            <a:off x="4526280" y="1554480"/>
            <a:ext cx="4206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 Future Work  (grounded in findings)</a:t>
            </a:r>
            <a:endParaRPr/>
          </a:p>
        </p:txBody>
      </p:sp>
      <p:sp>
        <p:nvSpPr>
          <p:cNvPr id="426" name="Google Shape;426;g3cedb94eee3_0_197"/>
          <p:cNvSpPr txBox="1"/>
          <p:nvPr/>
        </p:nvSpPr>
        <p:spPr>
          <a:xfrm>
            <a:off x="411480" y="1874520"/>
            <a:ext cx="3977700" cy="3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•  N1 detection remains bottleneck across all models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Baseline 0.441 → Temporal 0.477: only +3.6% after full retraining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Intrinsic spectral overlap of N1 with Wake &amp; REM limits ceiling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•  Single EEG channel (Fpz-Cz) — all models share this constraint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EOG/EMG channels used by human scorers are absent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•  High subject-to-subject variance (std ≈ 0.07–0.10)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Temporal fold 8: only 60.9% acc — single-subject outlier drags mean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Conformer std (0.076) &gt; Enhanced CNN+BiLSTM std (0.069)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76E00"/>
                </a:solidFill>
                <a:latin typeface="Arial"/>
                <a:ea typeface="Arial"/>
                <a:cs typeface="Arial"/>
                <a:sym typeface="Arial"/>
              </a:rPr>
              <a:t>•  Conformer underperforms Enhanced CNN+BiLSTM (82.9% vs 84.1%)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Self-attention needs larger datasets to surpass recurrent biases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•  Small dataset: 20 subjects — limits generalisation claims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No external validation set (SHHS, MASS) tested</a:t>
            </a:r>
            <a:endParaRPr/>
          </a:p>
        </p:txBody>
      </p:sp>
      <p:sp>
        <p:nvSpPr>
          <p:cNvPr id="427" name="Google Shape;427;g3cedb94eee3_0_197"/>
          <p:cNvSpPr txBox="1"/>
          <p:nvPr/>
        </p:nvSpPr>
        <p:spPr>
          <a:xfrm>
            <a:off x="4526275" y="1874526"/>
            <a:ext cx="42675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•  Improve N1: targeted augmentation &amp; loss shaping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Stage-conditional focal loss with higher α for N1 specifically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Synthetic N1 generation via EEG-GAN / sleep-spindle injection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•  Multi-modal input to break Fpz-Cz ceiling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Add EOG + EMG channels — directly mirrors clinical scoring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•  Subject-adaptive fine-tuning to reduce fold variance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Few-shot personalisation layer on top of frozen backbone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Meta-learning (MAML) for fast subject adaptation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•  Scale Conformer with pre-training (larger corpus)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Pre-train on SHHS (5,000+ subjects), fine-tune on Sleep-EDF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Expected: attention &gt; recurrence advantage realised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•  Deployment-ready pipeline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Real-time inference for wearable EEG (OpenBCI, Muse)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Uncertainty output (MC-Dropout) for low-confidence flagging</a:t>
            </a:r>
            <a:endParaRPr/>
          </a:p>
        </p:txBody>
      </p:sp>
      <p:sp>
        <p:nvSpPr>
          <p:cNvPr id="428" name="Google Shape;428;g3cedb94eee3_0_197"/>
          <p:cNvSpPr/>
          <p:nvPr/>
        </p:nvSpPr>
        <p:spPr>
          <a:xfrm>
            <a:off x="4407408" y="1554480"/>
            <a:ext cx="13800" cy="308160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