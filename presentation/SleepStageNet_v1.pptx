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ji84coQasVWLsZn9Re5I0d4fXD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2EC20D-4BF9-4E2D-8665-7EB2C7C8E4A5}">
  <a:tblStyle styleId="{902EC20D-4BF9-4E2D-8665-7EB2C7C8E4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D436D59-0D00-46C0-A393-D6164C0E541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f40ffe959_26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f40ffe959_26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f40ffe959_2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cf40ffe959_2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edb94eee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cedb94eee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edb94ee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cedb94eee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edb94ee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cedb94ee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edb94eee3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cedb94eee3_0_4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f40ffe959_2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cf40ffe959_21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f40ffe959_26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cf40ffe959_26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edb94eee3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edb94eee3_0_4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f40ffe959_26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f40ffe959_26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f40ffe959_26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f40ffe959_26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f40ffe959_2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f40ffe959_2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f40ffe959_3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cf40ffe959_33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edb94eee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cedb94eee3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f40ffe959_2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cf40ffe959_24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edb94eee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cedb94eee3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SleepStageNet: Deep Learning for</a:t>
            </a:r>
            <a:b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Automated Sleep Stage Classification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CSEP 590A Deep Learning  |  Group Project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3200400"/>
            <a:ext cx="768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ABBFF"/>
                </a:solidFill>
                <a:latin typeface="Arial"/>
                <a:ea typeface="Arial"/>
                <a:cs typeface="Arial"/>
                <a:sym typeface="Arial"/>
              </a:rPr>
              <a:t> •  Manish Das  • Nithin Balachandran  </a:t>
            </a:r>
            <a:r>
              <a:rPr lang="en-US" sz="1300">
                <a:solidFill>
                  <a:srgbClr val="AABBFF"/>
                </a:solidFill>
              </a:rPr>
              <a:t>• Regith Lingesh</a:t>
            </a:r>
            <a:br>
              <a:rPr b="0" i="0" lang="en-US" sz="1300" u="none" cap="none" strike="noStrike">
                <a:solidFill>
                  <a:srgbClr val="AABB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AABBFF"/>
                </a:solidFill>
                <a:latin typeface="Arial"/>
                <a:ea typeface="Arial"/>
                <a:cs typeface="Arial"/>
                <a:sym typeface="Arial"/>
              </a:rPr>
              <a:t> •  </a:t>
            </a:r>
            <a:r>
              <a:rPr lang="en-US" sz="1300">
                <a:solidFill>
                  <a:srgbClr val="AABBFF"/>
                </a:solidFill>
              </a:rPr>
              <a:t>Shrinivas Acharya  • </a:t>
            </a:r>
            <a:r>
              <a:rPr b="0" i="0" lang="en-US" sz="1300" u="none" cap="none" strike="noStrike">
                <a:solidFill>
                  <a:srgbClr val="AABBFF"/>
                </a:solidFill>
                <a:latin typeface="Arial"/>
                <a:ea typeface="Arial"/>
                <a:cs typeface="Arial"/>
                <a:sym typeface="Arial"/>
              </a:rPr>
              <a:t>Thangakumar Dhanasekaran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Problem &amp; Motivation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33870" y="970387"/>
            <a:ext cx="81381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Sleep disorders affect millions worldwide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Diagnosis requires overnight polysomnography (PSG) — expensive, manual, expert-dependent</a:t>
            </a:r>
            <a:endParaRPr sz="18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A trained technician takes 2–4 hours to score one night (800–1000 epochs)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Goal: Automate 5-class sleep stage classification from raw EEG signals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Clinical impact: Reduce cost, enable scalable sleep monitoring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Sleep Stages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02925" y="896101"/>
            <a:ext cx="8138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5 classes per AASM guidelines: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Wake (W) — alert / drowsy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N1 — light sleep, transition stage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N2 — intermediate sleep, sleep spindles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N3 — deep / slow-wave sleep, delta waves</a:t>
            </a:r>
            <a:endParaRPr sz="19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REM — </a:t>
            </a:r>
            <a:r>
              <a:rPr lang="en-US" sz="1800">
                <a:solidFill>
                  <a:srgbClr val="434343"/>
                </a:solidFill>
              </a:rPr>
              <a:t>R</a:t>
            </a: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apid </a:t>
            </a:r>
            <a:r>
              <a:rPr lang="en-US" sz="1800">
                <a:solidFill>
                  <a:srgbClr val="434343"/>
                </a:solidFill>
              </a:rPr>
              <a:t>E</a:t>
            </a: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ye </a:t>
            </a:r>
            <a:r>
              <a:rPr lang="en-US" sz="1800">
                <a:solidFill>
                  <a:srgbClr val="434343"/>
                </a:solidFill>
              </a:rPr>
              <a:t>M</a:t>
            </a: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ovement, dreaming</a:t>
            </a:r>
            <a:endParaRPr sz="19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Each 30-second epoch is classified independently</a:t>
            </a:r>
            <a:endParaRPr sz="1900"/>
          </a:p>
        </p:txBody>
      </p:sp>
      <p:pic>
        <p:nvPicPr>
          <p:cNvPr descr="sample_eeg_epoch.png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5" y="3242500"/>
            <a:ext cx="8138102" cy="170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502925" y="4881900"/>
            <a:ext cx="8229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100 Hz, 30 s epoch (3000 samples), Fpz-Cz channel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308175" y="777251"/>
            <a:ext cx="75900" cy="429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02920" y="896112"/>
            <a:ext cx="8138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Sleep-EDF v1 from PhysioNet (public benchmark)</a:t>
            </a:r>
            <a:endParaRPr sz="16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39 whole-night PSG recordings from 20 healthy subjects</a:t>
            </a:r>
            <a:endParaRPr sz="16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EEG channel: Fpz-Cz at 100 Hz → 3000 samples per 30 s epoch</a:t>
            </a:r>
            <a:endParaRPr sz="16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42,230 total epochs across all recordings</a:t>
            </a:r>
            <a:endParaRPr sz="1600"/>
          </a:p>
        </p:txBody>
      </p:sp>
      <p:pic>
        <p:nvPicPr>
          <p:cNvPr descr="class_distribution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925" y="2141375"/>
            <a:ext cx="5984250" cy="2495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447188" y="4636900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34343"/>
                </a:solidFill>
              </a:rPr>
              <a:t>Note: The dataset is heavily imbalanced: N2 alone makes up 42.1% of all epochs while N1 is only 6.6%.</a:t>
            </a:r>
            <a:endParaRPr sz="1100">
              <a:solidFill>
                <a:srgbClr val="43434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34343"/>
                </a:solidFill>
              </a:rPr>
              <a:t>         This imbalance is why we need multiple metrics — accuracy alone would be misleading (a model predicting all N2 gets 42%)</a:t>
            </a:r>
            <a:endParaRPr sz="11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502950" y="778550"/>
            <a:ext cx="81381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700"/>
              <a:buAutoNum type="arabicPeriod"/>
            </a:pPr>
            <a:r>
              <a:rPr b="1" lang="en-US" sz="1700">
                <a:solidFill>
                  <a:srgbClr val="434343"/>
                </a:solidFill>
              </a:rPr>
              <a:t>Overall Accuracy</a:t>
            </a:r>
            <a:endParaRPr b="1" sz="1700">
              <a:solidFill>
                <a:srgbClr val="434343"/>
              </a:solidFill>
            </a:endParaRPr>
          </a:p>
          <a:p>
            <a:pPr indent="-32385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What: </a:t>
            </a:r>
            <a:r>
              <a:rPr lang="en-US" sz="1500">
                <a:solidFill>
                  <a:srgbClr val="434343"/>
                </a:solidFill>
              </a:rPr>
              <a:t>Fraction of correctly classified epochs out of all epochs.</a:t>
            </a:r>
            <a:endParaRPr sz="1500">
              <a:solidFill>
                <a:srgbClr val="434343"/>
              </a:solidFill>
            </a:endParaRPr>
          </a:p>
          <a:p>
            <a:pPr indent="-32385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Why it matters: </a:t>
            </a:r>
            <a:r>
              <a:rPr lang="en-US" sz="1500">
                <a:solidFill>
                  <a:srgbClr val="434343"/>
                </a:solidFill>
              </a:rPr>
              <a:t>Simple to understand, but misleading with imbalanced data.</a:t>
            </a:r>
            <a:endParaRPr sz="1500">
              <a:solidFill>
                <a:srgbClr val="434343"/>
              </a:solidFill>
            </a:endParaRPr>
          </a:p>
          <a:p>
            <a:pPr indent="-32385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Limitation: </a:t>
            </a:r>
            <a:r>
              <a:rPr lang="en-US" sz="1500">
                <a:solidFill>
                  <a:srgbClr val="434343"/>
                </a:solidFill>
              </a:rPr>
              <a:t>Doesn't reflect poor N1 performance (only 6.6% of data).</a:t>
            </a:r>
            <a:endParaRPr sz="1500">
              <a:solidFill>
                <a:srgbClr val="434343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AutoNum type="arabicPeriod"/>
            </a:pPr>
            <a:r>
              <a:rPr b="1" lang="en-US" sz="1700">
                <a:solidFill>
                  <a:srgbClr val="434343"/>
                </a:solidFill>
              </a:rPr>
              <a:t>Macro F1 Score</a:t>
            </a:r>
            <a:endParaRPr b="1" sz="1700">
              <a:solidFill>
                <a:srgbClr val="434343"/>
              </a:solidFill>
            </a:endParaRPr>
          </a:p>
          <a:p>
            <a:pPr indent="-32385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What:</a:t>
            </a:r>
            <a:r>
              <a:rPr lang="en-US" sz="1500">
                <a:solidFill>
                  <a:srgbClr val="434343"/>
                </a:solidFill>
              </a:rPr>
              <a:t> Unweighted average of per-class F1 scores. Treats all 5 classes equally regardless of size.</a:t>
            </a:r>
            <a:endParaRPr sz="1500">
              <a:solidFill>
                <a:srgbClr val="434343"/>
              </a:solidFill>
            </a:endParaRPr>
          </a:p>
          <a:p>
            <a:pPr indent="-32385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Why it matters:</a:t>
            </a:r>
            <a:r>
              <a:rPr lang="en-US" sz="1500">
                <a:solidFill>
                  <a:srgbClr val="434343"/>
                </a:solidFill>
              </a:rPr>
              <a:t> This is our primary metric. It penalizes the model for doing poorly on rare classes (N1).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34343"/>
                </a:solidFill>
              </a:rPr>
              <a:t>3.	Weighted F1 Score</a:t>
            </a:r>
            <a:endParaRPr b="1" sz="1700">
              <a:solidFill>
                <a:srgbClr val="434343"/>
              </a:solidFill>
            </a:endParaRPr>
          </a:p>
          <a:p>
            <a:pPr indent="-323850" lvl="0" marL="91440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What:</a:t>
            </a:r>
            <a:r>
              <a:rPr lang="en-US" sz="1500">
                <a:solidFill>
                  <a:srgbClr val="434343"/>
                </a:solidFill>
              </a:rPr>
              <a:t> Average of per-class F1 scores, weighted by class support (number of samples).</a:t>
            </a:r>
            <a:endParaRPr sz="1500">
              <a:solidFill>
                <a:srgbClr val="434343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Why it matters: </a:t>
            </a:r>
            <a:r>
              <a:rPr lang="en-US" sz="1500">
                <a:solidFill>
                  <a:srgbClr val="434343"/>
                </a:solidFill>
              </a:rPr>
              <a:t>Reflects performance proportional to how often each stage appears.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f40ffe959_26_16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cf40ffe959_26_16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129" name="Google Shape;129;g3cf40ffe959_26_16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cf40ffe959_26_16"/>
          <p:cNvSpPr txBox="1"/>
          <p:nvPr/>
        </p:nvSpPr>
        <p:spPr>
          <a:xfrm>
            <a:off x="502945" y="778550"/>
            <a:ext cx="8138100" cy="3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34343"/>
                </a:solidFill>
              </a:rPr>
              <a:t>4.  	Cohen's Kappa</a:t>
            </a:r>
            <a:endParaRPr b="1" sz="1700">
              <a:solidFill>
                <a:srgbClr val="434343"/>
              </a:solidFill>
            </a:endParaRPr>
          </a:p>
          <a:p>
            <a:pPr indent="-323850" lvl="0" marL="91440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What: </a:t>
            </a:r>
            <a:r>
              <a:rPr lang="en-US" sz="1500">
                <a:solidFill>
                  <a:srgbClr val="434343"/>
                </a:solidFill>
              </a:rPr>
              <a:t>Agreement between predictions and ground truth, corrected for chance agreement. Ranges from -1 to 1 (0 = random, 1 = perfect).</a:t>
            </a:r>
            <a:endParaRPr sz="1500">
              <a:solidFill>
                <a:srgbClr val="434343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●"/>
            </a:pPr>
            <a:r>
              <a:rPr b="1" lang="en-US" sz="1500">
                <a:solidFill>
                  <a:srgbClr val="434343"/>
                </a:solidFill>
              </a:rPr>
              <a:t>Why it matters: </a:t>
            </a:r>
            <a:r>
              <a:rPr lang="en-US" sz="1500">
                <a:solidFill>
                  <a:srgbClr val="434343"/>
                </a:solidFill>
              </a:rPr>
              <a:t>Standard metric in clinical sleep staging. For reference, interscorer agreement between human experts is typically kappa ~0.75-0.85. Clinical threshold: Kappa &gt; 0.60</a:t>
            </a:r>
            <a:endParaRPr b="1" sz="17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sng">
                <a:solidFill>
                  <a:srgbClr val="434343"/>
                </a:solidFill>
              </a:rPr>
              <a:t>Evaluation Protocol</a:t>
            </a:r>
            <a:endParaRPr b="1" sz="1900" u="sng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rgbClr val="434343"/>
                </a:solidFill>
              </a:rPr>
              <a:t>20-fold Leave-One-Subject-Out Cross-Validation (LOSO-CV)</a:t>
            </a:r>
            <a:endParaRPr sz="1800"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00">
                <a:solidFill>
                  <a:srgbClr val="434343"/>
                </a:solidFill>
              </a:rPr>
              <a:t>    –  Each fold: train on 19 subjects, test on 1 held-out subject</a:t>
            </a:r>
            <a:endParaRPr sz="1800"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4343"/>
                </a:solidFill>
              </a:rPr>
              <a:t>    –  Ensures model generalizes to unseen subjects (no data leakage)</a:t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344850" y="777250"/>
            <a:ext cx="39300" cy="43662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Approach Overview 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502925" y="896100"/>
            <a:ext cx="4230000" cy="3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Start from a strong CNN baseline, then improve systematically: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1500">
                <a:solidFill>
                  <a:srgbClr val="434343"/>
                </a:solidFill>
              </a:rPr>
              <a:t>Model 1</a:t>
            </a: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→  Baseline: CNN Only </a:t>
            </a:r>
            <a:endParaRPr/>
          </a:p>
          <a:p>
            <a:pPr indent="457200" lvl="1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434343"/>
                </a:solidFill>
              </a:rPr>
              <a:t>Multi-scale dual-path CNN: small filters (~0.5s) capture spindles, large filters (~4s) capture slow waves</a:t>
            </a: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434343"/>
                </a:solidFill>
              </a:rPr>
              <a:t>•  Model 2  →  Temporal: CNN + BiLSTM</a:t>
            </a:r>
            <a:endParaRPr sz="1500">
              <a:solidFill>
                <a:srgbClr val="434343"/>
              </a:solidFill>
            </a:endParaRPr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34343"/>
                </a:solidFill>
              </a:rPr>
              <a:t>–  Same CNN extracts per-epoch features → 2-layer BiLSTM learns sleep stage transitions across epochs</a:t>
            </a:r>
            <a:endParaRPr sz="13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434343"/>
                </a:solidFill>
              </a:rPr>
              <a:t>•  Model 3  →  Conformer: CNN + Transformer</a:t>
            </a:r>
            <a:endParaRPr sz="1500">
              <a:solidFill>
                <a:srgbClr val="434343"/>
              </a:solidFill>
            </a:endParaRPr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34343"/>
                </a:solidFill>
              </a:rPr>
              <a:t>–  Replaces BiLSTM with Conformer blocks: self-attention (global patterns) + depthwise conv (local transitions)</a:t>
            </a:r>
            <a:endParaRPr sz="13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All experiments compared via the same 20-fold LOSO-CV protocol</a:t>
            </a:r>
            <a:endParaRPr/>
          </a:p>
        </p:txBody>
      </p:sp>
      <p:graphicFrame>
        <p:nvGraphicFramePr>
          <p:cNvPr id="139" name="Google Shape;139;p6"/>
          <p:cNvGraphicFramePr/>
          <p:nvPr/>
        </p:nvGraphicFramePr>
        <p:xfrm>
          <a:off x="4851700" y="102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{902EC20D-4BF9-4E2D-8665-7EB2C7C8E4A5}</a:tableStyleId>
              </a:tblPr>
              <a:tblGrid>
                <a:gridCol w="1092775"/>
                <a:gridCol w="2471325"/>
                <a:gridCol w="665825"/>
              </a:tblGrid>
              <a:tr h="31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Model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Architecture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Params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1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CNN Only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Dual-path multi-scale CNN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~191K 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CNN+BiLSTM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Multi-scale CNN + 2-layer BiLSTM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~851K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Conformer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Multi-scale CNN + Conformer blocks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~1.34M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731520" y="1828800"/>
            <a:ext cx="768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</a:rPr>
              <a:t>Baseline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31520" y="2834640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502920" y="16459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Baseline Architecture — DeepSleepNet-Lite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502920" y="896112"/>
            <a:ext cx="81381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Input: 90-second window (3 × 30 s epochs) = 9,000 samples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Dual parallel CNN paths: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Path 1: Small filters (~50 samples) — fine-grained, high-frequency features</a:t>
            </a:r>
            <a:endParaRPr sz="1700"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Path 2: Large filters (~400 samples) — coarse, low-frequency features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Concatenated features → Fully Connected → Softmax (5 classes)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Training: Adam optimizer, lr = 1e-4, 100 epochs, batch size 100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Oversampling applied to handle class imbalance during training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f40ffe959_21_38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cf40ffe959_21_38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A3990"/>
                </a:solidFill>
              </a:rPr>
              <a:t>Baseline - Architecture of DeepSleepNet-Lite</a:t>
            </a:r>
            <a:endParaRPr/>
          </a:p>
        </p:txBody>
      </p:sp>
      <p:sp>
        <p:nvSpPr>
          <p:cNvPr id="160" name="Google Shape;160;g3cf40ffe959_21_38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cf40ffe959_21_38"/>
          <p:cNvSpPr txBox="1"/>
          <p:nvPr/>
        </p:nvSpPr>
        <p:spPr>
          <a:xfrm>
            <a:off x="502920" y="896112"/>
            <a:ext cx="813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g3cf40ffe959_21_38" title="deepsleepnet-l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5850" y="1052425"/>
            <a:ext cx="4025726" cy="409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edb94eee3_0_13"/>
          <p:cNvSpPr txBox="1"/>
          <p:nvPr/>
        </p:nvSpPr>
        <p:spPr>
          <a:xfrm>
            <a:off x="365750" y="109727"/>
            <a:ext cx="8139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A3990"/>
                </a:solidFill>
              </a:rPr>
              <a:t>Baseline Results: Per-Class F1 and Training Curves</a:t>
            </a:r>
            <a:endParaRPr b="1" sz="2000">
              <a:solidFill>
                <a:srgbClr val="2A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A3990"/>
              </a:solidFill>
            </a:endParaRPr>
          </a:p>
        </p:txBody>
      </p:sp>
      <p:sp>
        <p:nvSpPr>
          <p:cNvPr id="168" name="Google Shape;168;g3cedb94eee3_0_13"/>
          <p:cNvSpPr/>
          <p:nvPr/>
        </p:nvSpPr>
        <p:spPr>
          <a:xfrm>
            <a:off x="365760" y="640080"/>
            <a:ext cx="84126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cedb94eee3_0_13" title="training_curves_and_f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00105"/>
            <a:ext cx="8839202" cy="272574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cedb94eee3_0_13"/>
          <p:cNvSpPr txBox="1"/>
          <p:nvPr/>
        </p:nvSpPr>
        <p:spPr>
          <a:xfrm>
            <a:off x="646200" y="752650"/>
            <a:ext cx="75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-US" sz="1600">
                <a:solidFill>
                  <a:schemeClr val="dk1"/>
                </a:solidFill>
              </a:rPr>
              <a:t>Baseline Model Achieves 0.753 Macro F1 Across 5 Sleep Stages</a:t>
            </a:r>
            <a:endParaRPr i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edb94eee3_0_5"/>
          <p:cNvSpPr txBox="1"/>
          <p:nvPr/>
        </p:nvSpPr>
        <p:spPr>
          <a:xfrm>
            <a:off x="365760" y="109728"/>
            <a:ext cx="84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A3990"/>
                </a:solidFill>
              </a:rPr>
              <a:t>Confusion Matrix</a:t>
            </a:r>
            <a:endParaRPr/>
          </a:p>
        </p:txBody>
      </p:sp>
      <p:sp>
        <p:nvSpPr>
          <p:cNvPr id="176" name="Google Shape;176;g3cedb94eee3_0_5"/>
          <p:cNvSpPr/>
          <p:nvPr/>
        </p:nvSpPr>
        <p:spPr>
          <a:xfrm>
            <a:off x="365760" y="640080"/>
            <a:ext cx="84126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cedb94eee3_0_5" title="confusion_matric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25" y="1408830"/>
            <a:ext cx="8811744" cy="338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cedb94eee3_0_5"/>
          <p:cNvSpPr txBox="1"/>
          <p:nvPr/>
        </p:nvSpPr>
        <p:spPr>
          <a:xfrm>
            <a:off x="506475" y="759275"/>
            <a:ext cx="699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N3 and N2 Classified Well; N1 Confusion Persists</a:t>
            </a:r>
            <a:br>
              <a:rPr lang="en-US"/>
            </a:br>
            <a:r>
              <a:rPr lang="en-US"/>
              <a:t>Model Excels at N2/N3, Struggles Most with N1 (48% Recall)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edb94eee3_0_0"/>
          <p:cNvSpPr txBox="1"/>
          <p:nvPr/>
        </p:nvSpPr>
        <p:spPr>
          <a:xfrm>
            <a:off x="731520" y="1828800"/>
            <a:ext cx="768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</a:rPr>
              <a:t>Temporal Model</a:t>
            </a:r>
            <a:endParaRPr/>
          </a:p>
        </p:txBody>
      </p:sp>
      <p:sp>
        <p:nvSpPr>
          <p:cNvPr id="184" name="Google Shape;184;g3cedb94eee3_0_0"/>
          <p:cNvSpPr txBox="1"/>
          <p:nvPr/>
        </p:nvSpPr>
        <p:spPr>
          <a:xfrm>
            <a:off x="731520" y="2834640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320040" y="777240"/>
            <a:ext cx="64008" cy="384048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502920" y="164592"/>
            <a:ext cx="8138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A3990"/>
                </a:solidFill>
              </a:rPr>
              <a:t>Why Temporal Modeling?</a:t>
            </a:r>
            <a:endParaRPr b="1" sz="17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A3990"/>
              </a:solidFill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02920" y="777240"/>
            <a:ext cx="813816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502925" y="896100"/>
            <a:ext cx="81381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Sleep stages are not independent — they follow a biological sequence.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CNN + BiLSTM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</p:txBody>
      </p:sp>
      <p:pic>
        <p:nvPicPr>
          <p:cNvPr id="193" name="Google Shape;19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067" y="1242636"/>
            <a:ext cx="5587626" cy="6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763" y="2262237"/>
            <a:ext cx="7665175" cy="127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7525" y="3632399"/>
            <a:ext cx="4495774" cy="12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edb94eee3_0_452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cedb94eee3_0_452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Improvement — Temporal Context Modeling</a:t>
            </a:r>
            <a:endParaRPr/>
          </a:p>
        </p:txBody>
      </p:sp>
      <p:sp>
        <p:nvSpPr>
          <p:cNvPr id="202" name="Google Shape;202;g3cedb94eee3_0_452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cedb94eee3_0_452"/>
          <p:cNvSpPr txBox="1"/>
          <p:nvPr/>
        </p:nvSpPr>
        <p:spPr>
          <a:xfrm>
            <a:off x="502920" y="896112"/>
            <a:ext cx="81381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Problem: CNN classifies each epoch mostly independently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Ignores natural temporal progression of sleep stages</a:t>
            </a:r>
            <a:endParaRPr sz="13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Solution: BiLSTM over a sequence of CNN epoch features</a:t>
            </a:r>
            <a:endParaRPr sz="1300">
              <a:solidFill>
                <a:srgbClr val="434343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 3-stage training</a:t>
            </a:r>
            <a:endParaRPr b="0" i="0" sz="15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</a:endParaRPr>
          </a:p>
        </p:txBody>
      </p:sp>
      <p:pic>
        <p:nvPicPr>
          <p:cNvPr id="204" name="Google Shape;204;g3cedb94eee3_0_4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975" y="2103826"/>
            <a:ext cx="6687375" cy="251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f40ffe959_21_49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cf40ffe959_21_49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Temporal </a:t>
            </a:r>
            <a:r>
              <a:rPr b="1" lang="en-US" sz="2200">
                <a:solidFill>
                  <a:srgbClr val="2A3990"/>
                </a:solidFill>
              </a:rPr>
              <a:t>Model Architecture</a:t>
            </a:r>
            <a:endParaRPr/>
          </a:p>
        </p:txBody>
      </p:sp>
      <p:sp>
        <p:nvSpPr>
          <p:cNvPr id="211" name="Google Shape;211;g3cf40ffe959_21_49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cf40ffe959_21_49"/>
          <p:cNvSpPr txBox="1"/>
          <p:nvPr/>
        </p:nvSpPr>
        <p:spPr>
          <a:xfrm>
            <a:off x="502920" y="896112"/>
            <a:ext cx="813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g3cf40ffe959_21_49"/>
          <p:cNvPicPr preferRelativeResize="0"/>
          <p:nvPr/>
        </p:nvPicPr>
        <p:blipFill rotWithShape="1">
          <a:blip r:embed="rId3">
            <a:alphaModFix/>
          </a:blip>
          <a:srcRect b="2153" l="0" r="0" t="8871"/>
          <a:stretch/>
        </p:blipFill>
        <p:spPr>
          <a:xfrm>
            <a:off x="541250" y="1153975"/>
            <a:ext cx="8455249" cy="17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cf40ffe959_21_49"/>
          <p:cNvPicPr preferRelativeResize="0"/>
          <p:nvPr/>
        </p:nvPicPr>
        <p:blipFill rotWithShape="1">
          <a:blip r:embed="rId4">
            <a:alphaModFix/>
          </a:blip>
          <a:srcRect b="0" l="0" r="507" t="12549"/>
          <a:stretch/>
        </p:blipFill>
        <p:spPr>
          <a:xfrm>
            <a:off x="1045600" y="3302650"/>
            <a:ext cx="5987701" cy="1199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g3cf40ffe959_21_49"/>
          <p:cNvCxnSpPr>
            <a:stCxn id="213" idx="2"/>
            <a:endCxn id="214" idx="0"/>
          </p:cNvCxnSpPr>
          <p:nvPr/>
        </p:nvCxnSpPr>
        <p:spPr>
          <a:xfrm rot="5400000">
            <a:off x="4222725" y="2756575"/>
            <a:ext cx="363000" cy="7293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g3cf40ffe959_21_49"/>
          <p:cNvCxnSpPr>
            <a:stCxn id="213" idx="2"/>
            <a:endCxn id="214" idx="3"/>
          </p:cNvCxnSpPr>
          <p:nvPr/>
        </p:nvCxnSpPr>
        <p:spPr>
          <a:xfrm flipH="1" rot="-5400000">
            <a:off x="5419725" y="2288875"/>
            <a:ext cx="962700" cy="2264400"/>
          </a:xfrm>
          <a:prstGeom prst="bentConnector4">
            <a:avLst>
              <a:gd fmla="val 18849" name="adj1"/>
              <a:gd fmla="val 11051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/>
        </p:nvSpPr>
        <p:spPr>
          <a:xfrm>
            <a:off x="731520" y="1828800"/>
            <a:ext cx="7680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</a:rPr>
              <a:t>Conformer Model</a:t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f40ffe959_26_337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cf40ffe959_26_337"/>
          <p:cNvSpPr txBox="1"/>
          <p:nvPr/>
        </p:nvSpPr>
        <p:spPr>
          <a:xfrm>
            <a:off x="502925" y="164599"/>
            <a:ext cx="7731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A3990"/>
                </a:solidFill>
              </a:rPr>
              <a:t>Why Conformer Model?</a:t>
            </a:r>
            <a:endParaRPr b="1" sz="2200">
              <a:solidFill>
                <a:srgbClr val="2A3990"/>
              </a:solidFill>
            </a:endParaRPr>
          </a:p>
        </p:txBody>
      </p:sp>
      <p:sp>
        <p:nvSpPr>
          <p:cNvPr id="228" name="Google Shape;228;g3cf40ffe959_26_337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cf40ffe959_26_337"/>
          <p:cNvSpPr txBox="1"/>
          <p:nvPr/>
        </p:nvSpPr>
        <p:spPr>
          <a:xfrm>
            <a:off x="502925" y="781593"/>
            <a:ext cx="8138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Attention captures global sleep cycles, convolution captures local N2 -&gt; N3 transitions. Together: Best of both worlds!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Conformer vs BiLSTM</a:t>
            </a:r>
            <a:r>
              <a:rPr lang="en-US" sz="1700">
                <a:solidFill>
                  <a:schemeClr val="dk1"/>
                </a:solidFill>
              </a:rPr>
              <a:t> —</a:t>
            </a:r>
            <a:r>
              <a:rPr lang="en-US" sz="1700">
                <a:solidFill>
                  <a:schemeClr val="dk1"/>
                </a:solidFill>
              </a:rPr>
              <a:t> How They See Context: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30" name="Google Shape;230;g3cf40ffe959_26_3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103" y="1394128"/>
            <a:ext cx="7202775" cy="14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cf40ffe959_26_3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124" y="3209574"/>
            <a:ext cx="8058527" cy="9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cf40ffe959_26_3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4975" y="4173495"/>
            <a:ext cx="4246699" cy="9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edb94eee3_0_470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cedb94eee3_0_470"/>
          <p:cNvSpPr txBox="1"/>
          <p:nvPr/>
        </p:nvSpPr>
        <p:spPr>
          <a:xfrm>
            <a:off x="502925" y="164599"/>
            <a:ext cx="773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A3990"/>
                </a:solidFill>
              </a:rPr>
              <a:t>Conformer Model Architecture</a:t>
            </a:r>
            <a:endParaRPr b="1" sz="17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A3990"/>
              </a:solidFill>
            </a:endParaRPr>
          </a:p>
        </p:txBody>
      </p:sp>
      <p:sp>
        <p:nvSpPr>
          <p:cNvPr id="239" name="Google Shape;239;g3cedb94eee3_0_470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cedb94eee3_0_470"/>
          <p:cNvSpPr txBox="1"/>
          <p:nvPr/>
        </p:nvSpPr>
        <p:spPr>
          <a:xfrm>
            <a:off x="502925" y="896101"/>
            <a:ext cx="81381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Originally from speech recognition (Gulati et al., 2020), the </a:t>
            </a:r>
            <a:r>
              <a:rPr b="1" lang="en-US" sz="1700">
                <a:solidFill>
                  <a:schemeClr val="dk1"/>
                </a:solidFill>
              </a:rPr>
              <a:t>Conformer</a:t>
            </a:r>
            <a:r>
              <a:rPr lang="en-US" sz="1700">
                <a:solidFill>
                  <a:schemeClr val="dk1"/>
                </a:solidFill>
              </a:rPr>
              <a:t> combines the best of Transformers and CNNs in a single block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Each Conformer block uses the </a:t>
            </a:r>
            <a:r>
              <a:rPr b="1" lang="en-US" sz="1700">
                <a:solidFill>
                  <a:schemeClr val="dk1"/>
                </a:solidFill>
              </a:rPr>
              <a:t>Macaron</a:t>
            </a:r>
            <a:r>
              <a:rPr lang="en-US" sz="1700">
                <a:solidFill>
                  <a:schemeClr val="dk1"/>
                </a:solidFill>
              </a:rPr>
              <a:t> structure (half-step FFN sandwich):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41" name="Google Shape;241;g3cedb94eee3_0_470"/>
          <p:cNvPicPr preferRelativeResize="0"/>
          <p:nvPr/>
        </p:nvPicPr>
        <p:blipFill rotWithShape="1">
          <a:blip r:embed="rId3">
            <a:alphaModFix/>
          </a:blip>
          <a:srcRect b="0" l="0" r="0" t="10611"/>
          <a:stretch/>
        </p:blipFill>
        <p:spPr>
          <a:xfrm>
            <a:off x="24375" y="1608531"/>
            <a:ext cx="9089426" cy="19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cedb94eee3_0_4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385" y="3949152"/>
            <a:ext cx="9144002" cy="1194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f40ffe959_26_329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cf40ffe959_26_329"/>
          <p:cNvSpPr txBox="1"/>
          <p:nvPr/>
        </p:nvSpPr>
        <p:spPr>
          <a:xfrm>
            <a:off x="502925" y="164599"/>
            <a:ext cx="7731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A3990"/>
                </a:solidFill>
              </a:rPr>
              <a:t>Training</a:t>
            </a:r>
            <a:endParaRPr b="1" sz="2200">
              <a:solidFill>
                <a:srgbClr val="2A3990"/>
              </a:solidFill>
            </a:endParaRPr>
          </a:p>
        </p:txBody>
      </p:sp>
      <p:sp>
        <p:nvSpPr>
          <p:cNvPr id="249" name="Google Shape;249;g3cf40ffe959_26_329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cf40ffe959_26_329"/>
          <p:cNvSpPr txBox="1"/>
          <p:nvPr/>
        </p:nvSpPr>
        <p:spPr>
          <a:xfrm>
            <a:off x="502925" y="896101"/>
            <a:ext cx="81381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Multi-Stage Training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51" name="Google Shape;251;g3cf40ffe959_26_329"/>
          <p:cNvPicPr preferRelativeResize="0"/>
          <p:nvPr/>
        </p:nvPicPr>
        <p:blipFill rotWithShape="1">
          <a:blip r:embed="rId3">
            <a:alphaModFix/>
          </a:blip>
          <a:srcRect b="0" l="0" r="0" t="12134"/>
          <a:stretch/>
        </p:blipFill>
        <p:spPr>
          <a:xfrm>
            <a:off x="789000" y="1287325"/>
            <a:ext cx="7159749" cy="276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cf40ffe959_26_329"/>
          <p:cNvPicPr preferRelativeResize="0"/>
          <p:nvPr/>
        </p:nvPicPr>
        <p:blipFill rotWithShape="1">
          <a:blip r:embed="rId4">
            <a:alphaModFix/>
          </a:blip>
          <a:srcRect b="0" l="0" r="0" t="9355"/>
          <a:stretch/>
        </p:blipFill>
        <p:spPr>
          <a:xfrm>
            <a:off x="5243905" y="3081890"/>
            <a:ext cx="3238953" cy="153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f40ffe959_26_316"/>
          <p:cNvSpPr txBox="1"/>
          <p:nvPr/>
        </p:nvSpPr>
        <p:spPr>
          <a:xfrm>
            <a:off x="731520" y="1828800"/>
            <a:ext cx="7680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</a:rPr>
              <a:t>Results</a:t>
            </a:r>
            <a:endParaRPr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f40ffe959_21_60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cf40ffe959_21_60"/>
          <p:cNvSpPr txBox="1"/>
          <p:nvPr/>
        </p:nvSpPr>
        <p:spPr>
          <a:xfrm>
            <a:off x="50292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Results Comparison</a:t>
            </a:r>
            <a:endParaRPr/>
          </a:p>
        </p:txBody>
      </p:sp>
      <p:sp>
        <p:nvSpPr>
          <p:cNvPr id="264" name="Google Shape;264;g3cf40ffe959_21_60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5" name="Google Shape;265;g3cf40ffe959_21_60"/>
          <p:cNvGraphicFramePr/>
          <p:nvPr/>
        </p:nvGraphicFramePr>
        <p:xfrm>
          <a:off x="365760" y="868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{BD436D59-0D00-46C0-A393-D6164C0E541A}</a:tableStyleId>
              </a:tblPr>
              <a:tblGrid>
                <a:gridCol w="2468875"/>
                <a:gridCol w="1463050"/>
                <a:gridCol w="1463050"/>
                <a:gridCol w="1463050"/>
                <a:gridCol w="15544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Cohen's 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N1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A3990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 (DeepSleepNet-Lite)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80.9%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2A39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Temporal</a:t>
                      </a:r>
                      <a:r>
                        <a:rPr b="1" lang="en-US" sz="1000" u="none" cap="none" strike="noStrike">
                          <a:solidFill>
                            <a:srgbClr val="2A39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(CNN + BiLSTM)  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83.9% ± 6.5%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</a:t>
                      </a:r>
                      <a:r>
                        <a:rPr b="1" lang="en-US" sz="10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79</a:t>
                      </a:r>
                      <a:r>
                        <a:rPr b="1" lang="en-US" sz="10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n-US" sz="10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 0.067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0.77</a:t>
                      </a:r>
                      <a:r>
                        <a:rPr b="1" lang="en-US" sz="10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</a:t>
                      </a:r>
                      <a:r>
                        <a:rPr b="1" lang="en-US" sz="1000" u="none" cap="none" strike="noStrike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 0.091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0.519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Conformer</a:t>
                      </a: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(CNN + Transformer)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83.0% ± 7.3%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</a:t>
                      </a:r>
                      <a:r>
                        <a:rPr lang="en-US" sz="10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 0.</a:t>
                      </a:r>
                      <a:r>
                        <a:rPr lang="en-US" sz="10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0.768</a:t>
                      </a:r>
                      <a:r>
                        <a:rPr lang="en-US" sz="10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lang="en-US" sz="10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± 0.1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0.500</a:t>
                      </a:r>
                      <a:endParaRPr sz="1000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266;g3cf40ffe959_21_60"/>
          <p:cNvSpPr txBox="1"/>
          <p:nvPr/>
        </p:nvSpPr>
        <p:spPr>
          <a:xfrm>
            <a:off x="365760" y="2980944"/>
            <a:ext cx="841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Per-Class F1  (Temporal CNN+BiLSTM vs Baseline)</a:t>
            </a:r>
            <a:endParaRPr/>
          </a:p>
        </p:txBody>
      </p:sp>
      <p:graphicFrame>
        <p:nvGraphicFramePr>
          <p:cNvPr id="267" name="Google Shape;267;g3cf40ffe959_21_60"/>
          <p:cNvGraphicFramePr/>
          <p:nvPr/>
        </p:nvGraphicFramePr>
        <p:xfrm>
          <a:off x="365760" y="33101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{BD436D59-0D00-46C0-A393-D6164C0E541A}</a:tableStyleId>
              </a:tblPr>
              <a:tblGrid>
                <a:gridCol w="1920250"/>
                <a:gridCol w="1298450"/>
                <a:gridCol w="1298450"/>
                <a:gridCol w="1298450"/>
                <a:gridCol w="1298450"/>
                <a:gridCol w="12984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Stage →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Wake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N1  (bottleneck)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949A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2A39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Temporal</a:t>
                      </a:r>
                      <a:r>
                        <a:rPr b="1" lang="en-US" sz="900" u="none" cap="none" strike="noStrike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n-US" sz="1000">
                          <a:solidFill>
                            <a:srgbClr val="2A39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0.881</a:t>
                      </a:r>
                      <a:endParaRPr b="1" sz="900">
                        <a:solidFill>
                          <a:srgbClr val="1B8A3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0.519</a:t>
                      </a:r>
                      <a:endParaRPr b="1" sz="900">
                        <a:solidFill>
                          <a:srgbClr val="1B8A3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0.869</a:t>
                      </a:r>
                      <a:endParaRPr b="1" sz="900">
                        <a:solidFill>
                          <a:srgbClr val="1B8A3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0.877</a:t>
                      </a:r>
                      <a:endParaRPr b="1" sz="900">
                        <a:solidFill>
                          <a:srgbClr val="1B8A3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>
                          <a:solidFill>
                            <a:srgbClr val="1B8A3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0.856</a:t>
                      </a:r>
                      <a:endParaRPr b="1" sz="900">
                        <a:solidFill>
                          <a:srgbClr val="1B8A3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8F5E9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Conformer</a:t>
                      </a:r>
                      <a:endParaRPr b="1" sz="900" u="none" cap="none" strike="noStrike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0.870</a:t>
                      </a:r>
                      <a:endParaRPr b="0" sz="900" u="none" cap="none" strike="noStrike">
                        <a:solidFill>
                          <a:srgbClr val="1B8A3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0.500</a:t>
                      </a:r>
                      <a:endParaRPr sz="900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0.869</a:t>
                      </a:r>
                      <a:endParaRPr sz="900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0.874</a:t>
                      </a:r>
                      <a:endParaRPr sz="900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43434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0.834</a:t>
                      </a:r>
                      <a:endParaRPr sz="900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f40ffe959_33_23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f40ffe959_33_23"/>
          <p:cNvSpPr txBox="1"/>
          <p:nvPr/>
        </p:nvSpPr>
        <p:spPr>
          <a:xfrm>
            <a:off x="502920" y="164592"/>
            <a:ext cx="813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sz="2800"/>
          </a:p>
        </p:txBody>
      </p:sp>
      <p:sp>
        <p:nvSpPr>
          <p:cNvPr id="274" name="Google Shape;274;g3cf40ffe959_33_23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cf40ffe959_33_23"/>
          <p:cNvSpPr txBox="1"/>
          <p:nvPr/>
        </p:nvSpPr>
        <p:spPr>
          <a:xfrm>
            <a:off x="502920" y="896112"/>
            <a:ext cx="81381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1A6B1A"/>
                </a:solidFill>
                <a:latin typeface="Calibri"/>
                <a:ea typeface="Calibri"/>
                <a:cs typeface="Calibri"/>
                <a:sym typeface="Calibri"/>
              </a:rPr>
              <a:t>1  Temporal context is the single biggest lever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Both CNN + BiLSTM and CNN + Conformer beat the baseline on every metric, confirming that modelling transitions between consecutive sleep epochs — not just individual 30-second windows — is critical for accurate staging.</a:t>
            </a:r>
            <a:endParaRPr sz="12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1A6B1A"/>
                </a:solidFill>
                <a:latin typeface="Calibri"/>
                <a:ea typeface="Calibri"/>
                <a:cs typeface="Calibri"/>
                <a:sym typeface="Calibri"/>
              </a:rPr>
              <a:t>2  CNN + BiLSTM is the best model overall  ★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83.9% accuracy (+3 pp), Macro F1 = 0.79 (+0.037), Cohen's κ = 0.778. It outperforms the more complex Conformer on every metric, showing that recurrent temporal modelling fits EEG sequences better than pure attention.</a:t>
            </a:r>
            <a:endParaRPr sz="12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B85C00"/>
                </a:solidFill>
                <a:latin typeface="Calibri"/>
                <a:ea typeface="Calibri"/>
                <a:cs typeface="Calibri"/>
                <a:sym typeface="Calibri"/>
              </a:rPr>
              <a:t>3  N1 (light sleep) remains the hardest class — but improved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BiLSTM raises N1 F1 from 0.441 → 0.519 (+17.7% relative). N1 is a brief transitional stage whose EEG overlaps Wake and REM; temporal context helps the model use neighbouring epochs as disambiguating cues.</a:t>
            </a:r>
            <a:endParaRPr sz="12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 Cohen's κ = 0.778 — approaching human-expert agreement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Inter-scorer κ among human sleep technicians is typically 0.75 – 0.85. The BiLSTM model now sits at the lower bound of that range, suggesting clinical-grade reliability is within reach.</a:t>
            </a:r>
            <a:endParaRPr sz="125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800">
              <a:solidFill>
                <a:srgbClr val="2A399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edb94eee3_0_197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cedb94eee3_0_197"/>
          <p:cNvSpPr txBox="1"/>
          <p:nvPr/>
        </p:nvSpPr>
        <p:spPr>
          <a:xfrm>
            <a:off x="-47230" y="164592"/>
            <a:ext cx="813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/>
          </a:p>
        </p:txBody>
      </p:sp>
      <p:sp>
        <p:nvSpPr>
          <p:cNvPr id="282" name="Google Shape;282;g3cedb94eee3_0_197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cedb94eee3_0_197"/>
          <p:cNvSpPr/>
          <p:nvPr/>
        </p:nvSpPr>
        <p:spPr>
          <a:xfrm>
            <a:off x="411480" y="850092"/>
            <a:ext cx="3977700" cy="3201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cedb94eee3_0_197"/>
          <p:cNvSpPr txBox="1"/>
          <p:nvPr/>
        </p:nvSpPr>
        <p:spPr>
          <a:xfrm>
            <a:off x="411475" y="850087"/>
            <a:ext cx="384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  Limitations  (evidence from results)</a:t>
            </a:r>
            <a:endParaRPr/>
          </a:p>
        </p:txBody>
      </p:sp>
      <p:sp>
        <p:nvSpPr>
          <p:cNvPr id="285" name="Google Shape;285;g3cedb94eee3_0_197"/>
          <p:cNvSpPr/>
          <p:nvPr/>
        </p:nvSpPr>
        <p:spPr>
          <a:xfrm>
            <a:off x="4526280" y="850092"/>
            <a:ext cx="4206300" cy="320100"/>
          </a:xfrm>
          <a:prstGeom prst="rect">
            <a:avLst/>
          </a:prstGeom>
          <a:solidFill>
            <a:srgbClr val="1B8A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cedb94eee3_0_197"/>
          <p:cNvSpPr txBox="1"/>
          <p:nvPr/>
        </p:nvSpPr>
        <p:spPr>
          <a:xfrm>
            <a:off x="4526280" y="850092"/>
            <a:ext cx="420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 Future Work  (grounded in findings)</a:t>
            </a:r>
            <a:endParaRPr/>
          </a:p>
        </p:txBody>
      </p:sp>
      <p:sp>
        <p:nvSpPr>
          <p:cNvPr id="287" name="Google Shape;287;g3cedb94eee3_0_197"/>
          <p:cNvSpPr txBox="1"/>
          <p:nvPr/>
        </p:nvSpPr>
        <p:spPr>
          <a:xfrm>
            <a:off x="411480" y="1229257"/>
            <a:ext cx="3977700" cy="3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•  N1 detection remains bottleneck across all models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Baseline 0.441 → Temporal 0.477: only +3.6% after full retraining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Intrinsic spectral overlap of N1 with Wake &amp; REM limits ceiling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•  Single EEG channel (Fpz-Cz) — all models share this constraint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EOG/EMG channels used by human scorers are absent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•  High subject-to-subject variance (std ≈ 0.07–0.10)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Temporal fold 8: only 60.9% acc — single-subject outlier drags mean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Conformer std (0.076) &gt; Enhanced CNN+BiLSTM std (0.069)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76E00"/>
                </a:solidFill>
                <a:latin typeface="Arial"/>
                <a:ea typeface="Arial"/>
                <a:cs typeface="Arial"/>
                <a:sym typeface="Arial"/>
              </a:rPr>
              <a:t>•  Conformer underperforms Enhanced CNN+BiLSTM (82.9% vs 84.1%)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Self-attention needs larger datasets to surpass recurrent biases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•  Small dataset: 20 subjects — limits generalisation claims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No external validation set (SHHS, MASS) tested</a:t>
            </a:r>
            <a:endParaRPr/>
          </a:p>
        </p:txBody>
      </p:sp>
      <p:sp>
        <p:nvSpPr>
          <p:cNvPr id="288" name="Google Shape;288;g3cedb94eee3_0_197"/>
          <p:cNvSpPr txBox="1"/>
          <p:nvPr/>
        </p:nvSpPr>
        <p:spPr>
          <a:xfrm>
            <a:off x="4526275" y="1170138"/>
            <a:ext cx="4267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Improve N1: targeted augmentation &amp; loss shaping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Stage-conditional focal loss with higher α for N1 specifically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Synthetic N1 generation via EEG-GAN / sleep-spindle injection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Multi-modal input to break Fpz-Cz ceiling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Add EOG + EMG channels — directly mirrors clinical scoring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Subject-adaptive fine-tuning to reduce fold variance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Few-shot personalisation layer on top of frozen backbone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Meta-learning (MAML) for fast subject adaptation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Scale Conformer with pre-training (larger corpus)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Pre-train on SHHS (5,000+ subjects), fine-tune on Sleep-EDF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Expected: attention &gt; recurrence advantage realised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•  Deployment-ready pipeline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Real-time inference for wearable EEG (OpenBCI, Muse)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Uncertainty output (MC-Dropout) for low-confidence flagging</a:t>
            </a:r>
            <a:endParaRPr/>
          </a:p>
        </p:txBody>
      </p:sp>
      <p:sp>
        <p:nvSpPr>
          <p:cNvPr id="289" name="Google Shape;289;g3cedb94eee3_0_197"/>
          <p:cNvSpPr/>
          <p:nvPr/>
        </p:nvSpPr>
        <p:spPr>
          <a:xfrm>
            <a:off x="4407408" y="850092"/>
            <a:ext cx="13800" cy="308160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990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f40ffe959_24_23"/>
          <p:cNvSpPr txBox="1"/>
          <p:nvPr/>
        </p:nvSpPr>
        <p:spPr>
          <a:xfrm>
            <a:off x="731520" y="1828800"/>
            <a:ext cx="768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</a:rPr>
              <a:t>Thank</a:t>
            </a:r>
            <a:r>
              <a:rPr b="1" lang="en-US" sz="2800">
                <a:solidFill>
                  <a:srgbClr val="FFFFFF"/>
                </a:solidFill>
              </a:rPr>
              <a:t> You</a:t>
            </a:r>
            <a:endParaRPr/>
          </a:p>
        </p:txBody>
      </p:sp>
      <p:sp>
        <p:nvSpPr>
          <p:cNvPr id="295" name="Google Shape;295;g3cf40ffe959_24_23"/>
          <p:cNvSpPr txBox="1"/>
          <p:nvPr/>
        </p:nvSpPr>
        <p:spPr>
          <a:xfrm>
            <a:off x="680150" y="2934757"/>
            <a:ext cx="76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Q &amp; A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edb94eee3_0_115"/>
          <p:cNvSpPr/>
          <p:nvPr/>
        </p:nvSpPr>
        <p:spPr>
          <a:xfrm>
            <a:off x="320040" y="777240"/>
            <a:ext cx="63900" cy="38406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cedb94eee3_0_115"/>
          <p:cNvSpPr txBox="1"/>
          <p:nvPr/>
        </p:nvSpPr>
        <p:spPr>
          <a:xfrm>
            <a:off x="502920" y="164592"/>
            <a:ext cx="813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Key Takeaways </a:t>
            </a:r>
            <a:endParaRPr sz="2800"/>
          </a:p>
        </p:txBody>
      </p:sp>
      <p:sp>
        <p:nvSpPr>
          <p:cNvPr id="302" name="Google Shape;302;g3cedb94eee3_0_115"/>
          <p:cNvSpPr/>
          <p:nvPr/>
        </p:nvSpPr>
        <p:spPr>
          <a:xfrm>
            <a:off x="502920" y="777240"/>
            <a:ext cx="8138100" cy="13800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cedb94eee3_0_115"/>
          <p:cNvSpPr txBox="1"/>
          <p:nvPr/>
        </p:nvSpPr>
        <p:spPr>
          <a:xfrm>
            <a:off x="502920" y="896112"/>
            <a:ext cx="81381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1.  All three approaches improve on the same 20-fold LOSO-CV benchmark (Sleep-EDF v1, 39 recordings)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    –  Baseline 80.9%  →  Temporal (</a:t>
            </a:r>
            <a:r>
              <a:rPr lang="en-US" sz="1200">
                <a:solidFill>
                  <a:srgbClr val="1B8A3E"/>
                </a:solidFill>
              </a:rPr>
              <a:t>CNN+BiLSTM)</a:t>
            </a:r>
            <a:r>
              <a:rPr b="0" i="0" lang="en-US" sz="12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1B8A3E"/>
                </a:solidFill>
              </a:rPr>
              <a:t>84.1%</a:t>
            </a:r>
            <a:r>
              <a:rPr b="0" i="0" lang="en-US" sz="12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lang="en-US" sz="1200">
                <a:solidFill>
                  <a:srgbClr val="1B8A3E"/>
                </a:solidFill>
              </a:rPr>
              <a:t>Conformer (CNN + Transformer) </a:t>
            </a:r>
            <a:r>
              <a:rPr b="0" i="0" lang="en-US" sz="12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sz="1200">
                <a:solidFill>
                  <a:srgbClr val="1B8A3E"/>
                </a:solidFill>
              </a:rPr>
              <a:t>3</a:t>
            </a:r>
            <a:r>
              <a:rPr b="0" i="0" lang="en-US" sz="1200" u="none" cap="none" strike="noStrike">
                <a:solidFill>
                  <a:srgbClr val="1B8A3E"/>
                </a:solidFill>
                <a:latin typeface="Arial"/>
                <a:ea typeface="Arial"/>
                <a:cs typeface="Arial"/>
                <a:sym typeface="Arial"/>
              </a:rPr>
              <a:t>.1%  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2.  Temporal context is the single biggest lever — adding BiLSTM over L=5 epochs gained +2.2% accuracy and +3.6% N1 F1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Sleep stage transitions (W→N1→N2→N3→REM) give the sequence model a structural advantage over epoch-wise CNN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3.  Enhanced training (focal loss γ=2, mixup, cosine warmup, longer context L=11) adds another +1.0% accuracy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Multi-scale CNN backbone captures both fine (spindles) and coarse (delta) EEG features simultaneously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4.  Conformer (82.9%) slightly underperforms Enhanced CNN+BiLSTM (84.1%) on this dataset size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Attention mechanisms may need more data to outshine recurrent inductive biases for temporal EEG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5.  N1 remains the persistent bottleneck across all models (0.441 → 0.477 in Temporal; enhanced similar)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N1 is intrinsically ambiguous — only 6.6% of data, overlaps spectrally with both Wake and REM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•  6.  High fold-to-fold variance (std ≈ 0.07–0.09) confirms subject-level variability dominates model choice</a:t>
            </a:r>
            <a:endParaRPr sz="1500"/>
          </a:p>
          <a:p>
            <a:pPr indent="0" lvl="1" marL="4572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   –  Larger datasets (SHHS, MASS) or subject-adaptive fine-tuning needed for robust clinical deployment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A3990"/>
                </a:solidFill>
              </a:rPr>
              <a:t>•  7.  All enhanced models approach human inter-scorer Kappa range (0.75–0.85); Enhanced CNN+BiLSTM κ = 0.783</a:t>
            </a:r>
            <a:endParaRPr sz="1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Aggregate Test Set Performance (20-Fold CV)</a:t>
            </a:r>
            <a:endParaRPr/>
          </a:p>
        </p:txBody>
      </p:sp>
      <p:sp>
        <p:nvSpPr>
          <p:cNvPr id="309" name="Google Shape;309;p27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20_confusion_matrices.png" id="310" name="Google Shape;3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457200" y="4343400"/>
            <a:ext cx="8229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Combined predictions across all 20 folds for both models</a:t>
            </a:r>
            <a:endParaRPr b="0" i="0" sz="11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34343"/>
                </a:solidFill>
              </a:rPr>
              <a:t>Able to </a:t>
            </a:r>
            <a:r>
              <a:rPr lang="en-US" sz="1100">
                <a:solidFill>
                  <a:srgbClr val="434343"/>
                </a:solidFill>
              </a:rPr>
              <a:t>achieve</a:t>
            </a:r>
            <a:r>
              <a:rPr lang="en-US" sz="1100">
                <a:solidFill>
                  <a:srgbClr val="434343"/>
                </a:solidFill>
              </a:rPr>
              <a:t> N1 improvements (</a:t>
            </a:r>
            <a:r>
              <a:rPr b="1" lang="en-US" sz="1100">
                <a:solidFill>
                  <a:srgbClr val="434343"/>
                </a:solidFill>
              </a:rPr>
              <a:t>61.8%</a:t>
            </a:r>
            <a:r>
              <a:rPr lang="en-US" sz="1100">
                <a:solidFill>
                  <a:srgbClr val="434343"/>
                </a:solidFill>
              </a:rPr>
              <a:t>)</a:t>
            </a:r>
            <a:endParaRPr sz="11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3990"/>
                </a:solidFill>
                <a:latin typeface="Arial"/>
                <a:ea typeface="Arial"/>
                <a:cs typeface="Arial"/>
                <a:sym typeface="Arial"/>
              </a:rPr>
              <a:t>Per-Class F1 Scores: CNN+BiLSTM vs Conformer</a:t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365760" y="640080"/>
            <a:ext cx="8412480" cy="13716"/>
          </a:xfrm>
          <a:prstGeom prst="rect">
            <a:avLst/>
          </a:prstGeom>
          <a:solidFill>
            <a:srgbClr val="3949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v20_per_class_f1.png" id="318" name="Google Shape;3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13232"/>
            <a:ext cx="82296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Conformer improves N1 and REM detection relative to BiLSTM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